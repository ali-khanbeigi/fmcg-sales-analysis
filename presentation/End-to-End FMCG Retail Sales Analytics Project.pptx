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9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CCCC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rogramming\FMCG%20analysis%20project\fmcg_sales_dataset_5000_with_invoice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[fmcg_sales_dataset_5000_with_invoice (1).xlsx]Pivot_KPIs!PivotTable4</c:name>
    <c:fmtId val="16"/>
  </c:pivotSource>
  <c:chart>
    <c:autoTitleDeleted val="0"/>
    <c:pivotFmts>
      <c:pivotFmt>
        <c:idx val="0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>
            <a:gsLst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Pivot_KPIs!$G$1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Pivot_KPIs!$F$2:$F$7</c:f>
              <c:strCache>
                <c:ptCount val="5"/>
                <c:pt idx="0">
                  <c:v>Beverages</c:v>
                </c:pt>
                <c:pt idx="1">
                  <c:v>Dairy</c:v>
                </c:pt>
                <c:pt idx="2">
                  <c:v>Home Care</c:v>
                </c:pt>
                <c:pt idx="3">
                  <c:v>Personal Care</c:v>
                </c:pt>
                <c:pt idx="4">
                  <c:v>Snacks</c:v>
                </c:pt>
              </c:strCache>
            </c:strRef>
          </c:cat>
          <c:val>
            <c:numRef>
              <c:f>Pivot_KPIs!$G$2:$G$7</c:f>
              <c:numCache>
                <c:formatCode>_(* #,##0_);_(* \(#,##0\);_(* "-"??_);_(@_)</c:formatCode>
                <c:ptCount val="5"/>
                <c:pt idx="0">
                  <c:v>1676337233.1999996</c:v>
                </c:pt>
                <c:pt idx="1">
                  <c:v>2529114292.5300012</c:v>
                </c:pt>
                <c:pt idx="2">
                  <c:v>1216291729.79</c:v>
                </c:pt>
                <c:pt idx="3">
                  <c:v>2507200831.5499983</c:v>
                </c:pt>
                <c:pt idx="4">
                  <c:v>1537237686.5400002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3A-4306-A4D9-8B32ADA524F4}"/>
            </c:ext>
          </c:extLst>
        </c:ser>
        <c:ser>
          <c:idx val="1"/>
          <c:order val="1"/>
          <c:tx>
            <c:strRef>
              <c:f>Pivot_KPIs!$H$1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Pivot_KPIs!$F$2:$F$7</c:f>
              <c:strCache>
                <c:ptCount val="5"/>
                <c:pt idx="0">
                  <c:v>Beverages</c:v>
                </c:pt>
                <c:pt idx="1">
                  <c:v>Dairy</c:v>
                </c:pt>
                <c:pt idx="2">
                  <c:v>Home Care</c:v>
                </c:pt>
                <c:pt idx="3">
                  <c:v>Personal Care</c:v>
                </c:pt>
                <c:pt idx="4">
                  <c:v>Snacks</c:v>
                </c:pt>
              </c:strCache>
            </c:strRef>
          </c:cat>
          <c:val>
            <c:numRef>
              <c:f>Pivot_KPIs!$H$2:$H$7</c:f>
              <c:numCache>
                <c:formatCode>_(* #,##0_);_(* \(#,##0\);_(* "-"??_);_(@_)</c:formatCode>
                <c:ptCount val="5"/>
                <c:pt idx="0">
                  <c:v>396218458.57999998</c:v>
                </c:pt>
                <c:pt idx="1">
                  <c:v>586011199.71999991</c:v>
                </c:pt>
                <c:pt idx="2">
                  <c:v>288819855.7899999</c:v>
                </c:pt>
                <c:pt idx="3">
                  <c:v>575251609.46000016</c:v>
                </c:pt>
                <c:pt idx="4">
                  <c:v>360499833.28999996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3A-4306-A4D9-8B32ADA52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56770592"/>
        <c:axId val="1956771552"/>
        <c:axId val="0"/>
      </c:bar3DChart>
      <c:catAx>
        <c:axId val="195677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771552"/>
        <c:crosses val="autoZero"/>
        <c:auto val="1"/>
        <c:lblAlgn val="ctr"/>
        <c:lblOffset val="100"/>
        <c:noMultiLvlLbl val="0"/>
      </c:catAx>
      <c:valAx>
        <c:axId val="195677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677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83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14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784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08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568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5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86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36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164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20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38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077DE-D712-44D9-834C-B31DA7DB3AAB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9A73E1E-B8D0-4538-BDE2-BF5E693ED6D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70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267CC-6D0C-02D6-9A44-2FF9BBA07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246" y="2736930"/>
            <a:ext cx="9144000" cy="99305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End-to-End FMCG Retail Sales Analytics Project</a:t>
            </a:r>
            <a:b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Powered by Excel | SQL | Python | Power BI</a:t>
            </a:r>
            <a:b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7CA1C-18F2-D0A7-0031-D07DD6918DF0}"/>
              </a:ext>
            </a:extLst>
          </p:cNvPr>
          <p:cNvSpPr txBox="1"/>
          <p:nvPr/>
        </p:nvSpPr>
        <p:spPr>
          <a:xfrm>
            <a:off x="2330246" y="3623638"/>
            <a:ext cx="6469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 complete data analytics project covering data cleaning, transformation, analysis, and dashboard creation for FMCG retail sales.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E1AD0-4920-2C92-2BD8-6629E40DC2E2}"/>
              </a:ext>
            </a:extLst>
          </p:cNvPr>
          <p:cNvSpPr txBox="1"/>
          <p:nvPr/>
        </p:nvSpPr>
        <p:spPr>
          <a:xfrm>
            <a:off x="2330246" y="4744578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Prepared by: Ali </a:t>
            </a:r>
            <a:r>
              <a:rPr lang="en-US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Khanbeigi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7BB59-B19C-AE69-E230-1DD53638E43B}"/>
              </a:ext>
            </a:extLst>
          </p:cNvPr>
          <p:cNvSpPr txBox="1"/>
          <p:nvPr/>
        </p:nvSpPr>
        <p:spPr>
          <a:xfrm>
            <a:off x="2330246" y="4461107"/>
            <a:ext cx="61009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Work Flow: </a:t>
            </a:r>
            <a:r>
              <a:rPr lang="en-US" sz="1600" dirty="0">
                <a:solidFill>
                  <a:srgbClr val="92D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1600" dirty="0">
                <a:solidFill>
                  <a:srgbClr val="FF9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→ </a:t>
            </a:r>
            <a:r>
              <a:rPr lang="en-US" sz="1600" dirty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</a:t>
            </a: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→ Insights</a:t>
            </a:r>
          </a:p>
        </p:txBody>
      </p:sp>
    </p:spTree>
    <p:extLst>
      <p:ext uri="{BB962C8B-B14F-4D97-AF65-F5344CB8AC3E}">
        <p14:creationId xmlns:p14="http://schemas.microsoft.com/office/powerpoint/2010/main" val="17592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59ECFE-C2EB-29BD-371C-61F8C24636EB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1. Excel Stage: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B9268F-0A1A-DBBD-B7EA-946CC4CA22C4}"/>
              </a:ext>
            </a:extLst>
          </p:cNvPr>
          <p:cNvSpPr txBox="1"/>
          <p:nvPr/>
        </p:nvSpPr>
        <p:spPr>
          <a:xfrm>
            <a:off x="508545" y="948191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1. Data Review &amp; Initial Cleaning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F373C-6B10-8688-26D5-70D9DC986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19843"/>
              </p:ext>
            </p:extLst>
          </p:nvPr>
        </p:nvGraphicFramePr>
        <p:xfrm>
          <a:off x="464574" y="1347679"/>
          <a:ext cx="5181600" cy="429768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84623050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38097840"/>
                    </a:ext>
                  </a:extLst>
                </a:gridCol>
              </a:tblGrid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395899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Project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FMCG / Retail Sales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901035"/>
                  </a:ext>
                </a:extLst>
              </a:tr>
              <a:tr h="358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Analyze product, region, and channel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770899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Dataset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786706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Tools (Pipeline)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Excel ⇢ SQL ⇢ Python ⇢ Power BI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158038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Record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~5K transactions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927119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Time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Apr 2026 – Mar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768017"/>
                  </a:ext>
                </a:extLst>
              </a:tr>
              <a:tr h="205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sheets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Rowdata</a:t>
                      </a:r>
                      <a:r>
                        <a:rPr lang="en-US" sz="18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-Calculated fields-Pivot KPI- QA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840678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24E2CA6-20F8-2090-488E-9B6F758DAF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1"/>
          <a:stretch>
            <a:fillRect/>
          </a:stretch>
        </p:blipFill>
        <p:spPr>
          <a:xfrm>
            <a:off x="5690145" y="1656735"/>
            <a:ext cx="6393700" cy="335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500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D9067-2E71-3237-B978-30509231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2DCA01-372D-20DB-9FC3-A10FA855C45D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1. Excel Stage: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AE3E4-6BE7-2057-6E0D-4EAE778764C3}"/>
              </a:ext>
            </a:extLst>
          </p:cNvPr>
          <p:cNvSpPr txBox="1"/>
          <p:nvPr/>
        </p:nvSpPr>
        <p:spPr>
          <a:xfrm>
            <a:off x="508544" y="948191"/>
            <a:ext cx="7081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2. Calculated Fields: Adding some crucial fields</a:t>
            </a:r>
            <a:r>
              <a:rPr lang="fa-I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and KPIs to the table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CC1F4-10E3-A33D-617B-43235CA0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439744"/>
              </p:ext>
            </p:extLst>
          </p:nvPr>
        </p:nvGraphicFramePr>
        <p:xfrm>
          <a:off x="508546" y="1544177"/>
          <a:ext cx="10297108" cy="343094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245964">
                  <a:extLst>
                    <a:ext uri="{9D8B030D-6E8A-4147-A177-3AD203B41FA5}">
                      <a16:colId xmlns:a16="http://schemas.microsoft.com/office/drawing/2014/main" val="3613866537"/>
                    </a:ext>
                  </a:extLst>
                </a:gridCol>
                <a:gridCol w="3525572">
                  <a:extLst>
                    <a:ext uri="{9D8B030D-6E8A-4147-A177-3AD203B41FA5}">
                      <a16:colId xmlns:a16="http://schemas.microsoft.com/office/drawing/2014/main" val="3704729722"/>
                    </a:ext>
                  </a:extLst>
                </a:gridCol>
                <a:gridCol w="3525572">
                  <a:extLst>
                    <a:ext uri="{9D8B030D-6E8A-4147-A177-3AD203B41FA5}">
                      <a16:colId xmlns:a16="http://schemas.microsoft.com/office/drawing/2014/main" val="3311437972"/>
                    </a:ext>
                  </a:extLst>
                </a:gridCol>
              </a:tblGrid>
              <a:tr h="527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Field Name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Formula Example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Description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593996731"/>
                  </a:ext>
                </a:extLst>
              </a:tr>
              <a:tr h="527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Gross_Sales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=[@price]*[@quantity]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revenue before discount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565035106"/>
                  </a:ext>
                </a:extLst>
              </a:tr>
              <a:tr h="92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Discount_Value</a:t>
                      </a:r>
                      <a:endParaRPr lang="en-US" sz="1500" b="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=[@Gross_Sales]*([@discount]/100)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Monetary value of discount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937670797"/>
                  </a:ext>
                </a:extLst>
              </a:tr>
              <a:tr h="923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Calculated_Net_Sales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=[@Gross_Sales]-[@Discount_Value]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Net sales after discount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870007190"/>
                  </a:ext>
                </a:extLst>
              </a:tr>
              <a:tr h="527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Profit_Margin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=[@profit]/[@revenue]</a:t>
                      </a:r>
                    </a:p>
                  </a:txBody>
                  <a:tcPr marL="78401" marR="78401" marT="39200" marB="39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Margin ratio</a:t>
                      </a:r>
                    </a:p>
                  </a:txBody>
                  <a:tcPr marL="78401" marR="78401" marT="39200" marB="39200" anchor="ctr"/>
                </a:tc>
                <a:extLst>
                  <a:ext uri="{0D108BD9-81ED-4DB2-BD59-A6C34878D82A}">
                    <a16:rowId xmlns:a16="http://schemas.microsoft.com/office/drawing/2014/main" val="1412393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01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BFFCC-C5EC-3E4D-939F-40319D28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B61627-5379-7499-36C5-0C63DB6ACC5F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1. Excel Stage: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3D15A-FC2C-BCFC-DB81-478E521DCCA1}"/>
              </a:ext>
            </a:extLst>
          </p:cNvPr>
          <p:cNvSpPr txBox="1"/>
          <p:nvPr/>
        </p:nvSpPr>
        <p:spPr>
          <a:xfrm>
            <a:off x="508545" y="844016"/>
            <a:ext cx="10572410" cy="128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3. Pivot KPI: This pivot table provides an initial summary of sales and profitability by product category, helping identify top‑performing segments before moving to deeper analysis in another stages. For example: 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82D1F70-28AC-0465-BA90-36F9B5AD69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7044340"/>
              </p:ext>
            </p:extLst>
          </p:nvPr>
        </p:nvGraphicFramePr>
        <p:xfrm>
          <a:off x="3780416" y="2003269"/>
          <a:ext cx="5181600" cy="2689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Graphic 6">
            <a:extLst>
              <a:ext uri="{FF2B5EF4-FFF2-40B4-BE49-F238E27FC236}">
                <a16:creationId xmlns:a16="http://schemas.microsoft.com/office/drawing/2014/main" id="{3ED7851F-9872-41A9-59BC-E1EEE0338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3764" y="2053942"/>
            <a:ext cx="1838325" cy="25908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D7453F0-E2C9-93B3-0C22-69B64782C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276851"/>
              </p:ext>
            </p:extLst>
          </p:nvPr>
        </p:nvGraphicFramePr>
        <p:xfrm>
          <a:off x="409268" y="2195577"/>
          <a:ext cx="2819400" cy="240030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28088393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108858706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38465882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Sum of revenue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Sum of Profit</a:t>
                      </a:r>
                      <a:endParaRPr lang="en-US" sz="1100" b="0" i="0" u="none" strike="noStrike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596369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Beverages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1,676,337,233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   396,218,459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2094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Dairy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2,529,114,293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   586,011,200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44904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Home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1,216,291,730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   288,819,856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00773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Personal Care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2,507,200,832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   575,251,609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932316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Snacks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1,537,237,687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   360,499,833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62214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Grand 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9,466,181,774 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2,206,800,957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8770897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8F05721-ED63-7BFF-8821-7200B1CF4649}"/>
              </a:ext>
            </a:extLst>
          </p:cNvPr>
          <p:cNvSpPr txBox="1"/>
          <p:nvPr/>
        </p:nvSpPr>
        <p:spPr>
          <a:xfrm>
            <a:off x="1111045" y="4649443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Pivot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D33DB9-2365-D222-F2C9-843392BD0A28}"/>
              </a:ext>
            </a:extLst>
          </p:cNvPr>
          <p:cNvSpPr txBox="1"/>
          <p:nvPr/>
        </p:nvSpPr>
        <p:spPr>
          <a:xfrm>
            <a:off x="5372483" y="4630602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Bar chart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7841C-BCC8-6949-BEB6-A0F7399A7C9E}"/>
              </a:ext>
            </a:extLst>
          </p:cNvPr>
          <p:cNvSpPr txBox="1"/>
          <p:nvPr/>
        </p:nvSpPr>
        <p:spPr>
          <a:xfrm>
            <a:off x="10108272" y="4649443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Slicer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88FF7-130C-C460-6F04-F16E2EC2EFB1}"/>
              </a:ext>
            </a:extLst>
          </p:cNvPr>
          <p:cNvSpPr txBox="1"/>
          <p:nvPr/>
        </p:nvSpPr>
        <p:spPr>
          <a:xfrm>
            <a:off x="508545" y="4840636"/>
            <a:ext cx="10572410" cy="128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This pivot table calculates total revenue and profit across product categories, allowing quick comparison of financial performance between segments. There are some other pivot tables like: sum profit and sum revenue by region, channel, year and month, promotion,….</a:t>
            </a:r>
          </a:p>
        </p:txBody>
      </p:sp>
    </p:spTree>
    <p:extLst>
      <p:ext uri="{BB962C8B-B14F-4D97-AF65-F5344CB8AC3E}">
        <p14:creationId xmlns:p14="http://schemas.microsoft.com/office/powerpoint/2010/main" val="198000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150F-64BF-4A5A-44CB-4A322C978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C8BE85-8CB1-29EE-5907-F123DB0071F9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1. Excel Stage: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B029B-650D-6A3B-82FC-49619E2B5006}"/>
              </a:ext>
            </a:extLst>
          </p:cNvPr>
          <p:cNvSpPr txBox="1"/>
          <p:nvPr/>
        </p:nvSpPr>
        <p:spPr>
          <a:xfrm>
            <a:off x="508545" y="933405"/>
            <a:ext cx="10572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3. QA Check :</a:t>
            </a:r>
            <a:r>
              <a:rPr lang="fa-IR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Performed data QA checks to ensure completeness, accuracy, and consistency before loading into Power BI.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B9295-2CC0-6A89-D5D9-7FD23EFE428D}"/>
              </a:ext>
            </a:extLst>
          </p:cNvPr>
          <p:cNvSpPr txBox="1"/>
          <p:nvPr/>
        </p:nvSpPr>
        <p:spPr>
          <a:xfrm>
            <a:off x="5552768" y="4354923"/>
            <a:ext cx="226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QA Table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A5C688-4A93-8FBB-2856-14D09CA48D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596697"/>
              </p:ext>
            </p:extLst>
          </p:nvPr>
        </p:nvGraphicFramePr>
        <p:xfrm>
          <a:off x="1030031" y="1767105"/>
          <a:ext cx="10218073" cy="250797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301335">
                  <a:extLst>
                    <a:ext uri="{9D8B030D-6E8A-4147-A177-3AD203B41FA5}">
                      <a16:colId xmlns:a16="http://schemas.microsoft.com/office/drawing/2014/main" val="2902224290"/>
                    </a:ext>
                  </a:extLst>
                </a:gridCol>
                <a:gridCol w="3458369">
                  <a:extLst>
                    <a:ext uri="{9D8B030D-6E8A-4147-A177-3AD203B41FA5}">
                      <a16:colId xmlns:a16="http://schemas.microsoft.com/office/drawing/2014/main" val="2029851088"/>
                    </a:ext>
                  </a:extLst>
                </a:gridCol>
                <a:gridCol w="3458369">
                  <a:extLst>
                    <a:ext uri="{9D8B030D-6E8A-4147-A177-3AD203B41FA5}">
                      <a16:colId xmlns:a16="http://schemas.microsoft.com/office/drawing/2014/main" val="2013650220"/>
                    </a:ext>
                  </a:extLst>
                </a:gridCol>
              </a:tblGrid>
              <a:tr h="33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Revenue Check 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Mismatch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Formula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04881053"/>
                  </a:ext>
                </a:extLst>
              </a:tr>
              <a:tr h="475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Negative Profit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=IF(COUNTIF(SALES_DATA[Profit], "&lt;0")=0, "OK", "Found Negative Profit")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5896255"/>
                  </a:ext>
                </a:extLst>
              </a:tr>
              <a:tr h="3503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Max Profit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5,150,518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=MAX(SALES_DATA[Profit])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38763263"/>
                  </a:ext>
                </a:extLst>
              </a:tr>
              <a:tr h="33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Min Profit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6,117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=MIN(SALES_DATA[Profit])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15610927"/>
                  </a:ext>
                </a:extLst>
              </a:tr>
              <a:tr h="33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Min Revenue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</a:t>
                      </a:r>
                      <a:r>
                        <a:rPr lang="fa-IR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</a:t>
                      </a: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38,398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=MIN(SALES_DATA[revenue])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38452100"/>
                  </a:ext>
                </a:extLst>
              </a:tr>
              <a:tr h="33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Max Revenue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    18,346,547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=MAX(SALES_DATA[revenue])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53235713"/>
                  </a:ext>
                </a:extLst>
              </a:tr>
              <a:tr h="33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Total Orders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-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40402170"/>
                  </a:ext>
                </a:extLst>
              </a:tr>
            </a:tbl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2BA23B35-5A77-F27B-C783-CA444CBD4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922" y="4275075"/>
            <a:ext cx="9979912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Validated key columns, checked for duplicates, and confirmed category mappings were correct.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Reviewed calculated fields and pivot outputs to verify correctness of revenue and profit logic.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Ensured no missing values and standardized formatting across all source tables. </a:t>
            </a:r>
          </a:p>
        </p:txBody>
      </p:sp>
    </p:spTree>
    <p:extLst>
      <p:ext uri="{BB962C8B-B14F-4D97-AF65-F5344CB8AC3E}">
        <p14:creationId xmlns:p14="http://schemas.microsoft.com/office/powerpoint/2010/main" val="2763445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6DA88-0C69-4F82-987D-2231FC20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3DF75A-3938-74EC-4212-2EDAE50EF9F5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40513-3F4C-B0AD-393D-FF31AD920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564" y="265470"/>
            <a:ext cx="3135345" cy="5646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3853A-5352-B099-FAE6-C015E8E70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5" y="3982066"/>
            <a:ext cx="8625001" cy="19300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84C407-09EC-940A-6E8A-7973416D9504}"/>
              </a:ext>
            </a:extLst>
          </p:cNvPr>
          <p:cNvSpPr txBox="1"/>
          <p:nvPr/>
        </p:nvSpPr>
        <p:spPr>
          <a:xfrm>
            <a:off x="422788" y="933405"/>
            <a:ext cx="480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1. Data Import &amp; Table Creation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FF14CE-0A33-95A2-A488-B17D744E1454}"/>
              </a:ext>
            </a:extLst>
          </p:cNvPr>
          <p:cNvSpPr txBox="1"/>
          <p:nvPr/>
        </p:nvSpPr>
        <p:spPr>
          <a:xfrm>
            <a:off x="453223" y="1302737"/>
            <a:ext cx="7816644" cy="871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Created a structured SQL table and imported raw FMCG sales data using BULK INSERT to enable efficient querying and validation before analysis.</a:t>
            </a:r>
          </a:p>
        </p:txBody>
      </p:sp>
    </p:spTree>
    <p:extLst>
      <p:ext uri="{BB962C8B-B14F-4D97-AF65-F5344CB8AC3E}">
        <p14:creationId xmlns:p14="http://schemas.microsoft.com/office/powerpoint/2010/main" val="28933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0F96-972B-1D40-72CC-BF281F14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677E3D-3567-2F3F-9FD7-9D7067510292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C0762-10CE-D5BF-116B-8CEFFCBC3FC9}"/>
              </a:ext>
            </a:extLst>
          </p:cNvPr>
          <p:cNvSpPr txBox="1"/>
          <p:nvPr/>
        </p:nvSpPr>
        <p:spPr>
          <a:xfrm>
            <a:off x="422788" y="933405"/>
            <a:ext cx="4807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Data Validation &amp; Quality Checks – SQL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6F562-6132-7F58-49A6-2802001544D0}"/>
              </a:ext>
            </a:extLst>
          </p:cNvPr>
          <p:cNvSpPr txBox="1"/>
          <p:nvPr/>
        </p:nvSpPr>
        <p:spPr>
          <a:xfrm>
            <a:off x="422788" y="1302737"/>
            <a:ext cx="7816644" cy="211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Previewed imported data to verify structure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Checked for missing primary identifiers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Validated financial calculations (Net Sales logic)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Reviewed distinct values across key business dimensions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5D8917-2CDD-0B19-FC6A-B4789DCC2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3806" y="1908765"/>
            <a:ext cx="4352888" cy="36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1919C-6266-86A1-450A-C33BE9A55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62" y="3679555"/>
            <a:ext cx="7326841" cy="18757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786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7921-C257-ADF4-4D90-0C556675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CFD28-49F8-A0DF-D3CE-9276AB111F13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0A6969-7BED-F289-CB8A-FDAAE81DD7DE}"/>
              </a:ext>
            </a:extLst>
          </p:cNvPr>
          <p:cNvSpPr txBox="1"/>
          <p:nvPr/>
        </p:nvSpPr>
        <p:spPr>
          <a:xfrm>
            <a:off x="422788" y="933405"/>
            <a:ext cx="5309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Business Logic Validation &amp; Data Modeling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5C8D7-37D7-9755-78CA-75AFAFD3DA64}"/>
              </a:ext>
            </a:extLst>
          </p:cNvPr>
          <p:cNvSpPr txBox="1"/>
          <p:nvPr/>
        </p:nvSpPr>
        <p:spPr>
          <a:xfrm>
            <a:off x="422788" y="1302737"/>
            <a:ext cx="7816644" cy="211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Recalculated and validated profit logic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Cross-checked revenue and cost consistency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Created a clean SQL view for reporting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Prepared structured dataset for Power BI modeling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851DE-5A33-653C-60C6-5AFE410B2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69" y="107032"/>
            <a:ext cx="3924640" cy="5920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DF9DDF-E5EF-0526-AF28-737CCCBC1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91" y="3975770"/>
            <a:ext cx="7568451" cy="1948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0464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811C-3BC2-7832-5194-1E5F13D69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19967-B685-EDB0-0185-196F41647180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9D7D6-6DD9-DCBF-F303-D9F98F6F08B1}"/>
              </a:ext>
            </a:extLst>
          </p:cNvPr>
          <p:cNvSpPr txBox="1"/>
          <p:nvPr/>
        </p:nvSpPr>
        <p:spPr>
          <a:xfrm>
            <a:off x="422788" y="933405"/>
            <a:ext cx="5309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4. Exploratory Data Analysis (EDA) – SQL Insights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A9D118-F8E8-91F9-C9A0-8FE97A1DAE04}"/>
              </a:ext>
            </a:extLst>
          </p:cNvPr>
          <p:cNvSpPr txBox="1"/>
          <p:nvPr/>
        </p:nvSpPr>
        <p:spPr>
          <a:xfrm>
            <a:off x="422788" y="1302737"/>
            <a:ext cx="781664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Computed key KPIs (Revenue, Profit, Margin) from cleaned data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Analyzed sales performance across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Regions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&amp;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Channels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Built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Monthly trend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for time-series visualization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Evaluated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Promotion effectiveness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and profitability impact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C6942-15EF-1059-7645-C0EC079D7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065" y="117985"/>
            <a:ext cx="4739844" cy="58971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6C6F3-7466-800D-C496-92FBDAE39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913" y="3504592"/>
            <a:ext cx="3476152" cy="2510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946062-5A74-8872-F1FE-2FFF1E5572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6" y="4475773"/>
            <a:ext cx="3444538" cy="1539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8740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C59C-5922-58C1-B828-D3B6A09F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435CFF-7C84-6FFD-7109-43FB2B92866F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3D2953-5FE1-43AC-3A5E-9CF52810D37C}"/>
              </a:ext>
            </a:extLst>
          </p:cNvPr>
          <p:cNvSpPr txBox="1"/>
          <p:nvPr/>
        </p:nvSpPr>
        <p:spPr>
          <a:xfrm>
            <a:off x="422788" y="933405"/>
            <a:ext cx="53094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5. Product &amp; Customer Performance Analysis 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B647B-C58C-3570-7C72-E8CBFA9A79FA}"/>
              </a:ext>
            </a:extLst>
          </p:cNvPr>
          <p:cNvSpPr txBox="1"/>
          <p:nvPr/>
        </p:nvSpPr>
        <p:spPr>
          <a:xfrm>
            <a:off x="422788" y="1302737"/>
            <a:ext cx="7816644" cy="211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Identified top revenue-generating SKUs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Compared customer segment profitability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Distinguished between high-volume and high-margin products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Highlighted strategic products driving overall business performance</a:t>
            </a:r>
          </a:p>
          <a:p>
            <a:pPr>
              <a:lnSpc>
                <a:spcPct val="150000"/>
              </a:lnSpc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602497-CD15-E95B-3512-9C38F3EE5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432" y="98239"/>
            <a:ext cx="3409075" cy="5838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94FF42-5744-A02D-9AD8-64C207EB1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310" y="3009418"/>
            <a:ext cx="3085243" cy="29151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6ECC11-B032-FF97-1468-43E9F56C5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04" y="3429000"/>
            <a:ext cx="3144427" cy="2507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837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9DB88-9CD3-6DE7-FE74-3514F3280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8A9D43-8F91-43B1-1E66-81E9B4ED70A1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92E671-938C-645B-FAC9-4E05FCDDD53E}"/>
              </a:ext>
            </a:extLst>
          </p:cNvPr>
          <p:cNvSpPr txBox="1"/>
          <p:nvPr/>
        </p:nvSpPr>
        <p:spPr>
          <a:xfrm>
            <a:off x="422788" y="933405"/>
            <a:ext cx="59190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 Advanced SQL Analysis – Trend &amp; Ranking Insights</a:t>
            </a:r>
          </a:p>
          <a:p>
            <a:endParaRPr lang="en-US" dirty="0"/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26E54-ED88-6A87-EEAC-AF8041C4E428}"/>
              </a:ext>
            </a:extLst>
          </p:cNvPr>
          <p:cNvSpPr txBox="1"/>
          <p:nvPr/>
        </p:nvSpPr>
        <p:spPr>
          <a:xfrm>
            <a:off x="422788" y="1302737"/>
            <a:ext cx="7269370" cy="336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Applied CTE &amp; window functions (LAG, RANK) for dynamic trend and ranking insights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Built month-over-month revenue comparisons to spot performance shifts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Ranked SKUs by total revenue to highlight top performers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Demonstrated advanced SQL analytical capability ready for BI modeling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4310B-13B2-BDD3-CC8A-BB8966B1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58" y="4408235"/>
            <a:ext cx="4077053" cy="1219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988201-E5F1-D9B2-58F9-347D8315C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176" y="3987667"/>
            <a:ext cx="2223662" cy="2599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0734E6-AB22-00A7-A20B-1AE91B369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2158" y="48335"/>
            <a:ext cx="4116383" cy="29976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AC66FD-D5A4-F2B1-F8F0-B45B99E86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803" y="3149396"/>
            <a:ext cx="2911092" cy="2895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024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9DD63-CBE3-9687-FE71-F7ECB4C5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260A8-C5BD-A7F1-F5C6-9B09380F9CE1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2. SQL Stage(SQL Server):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65238-42BE-F161-7EB9-06AE1FDFBAA2}"/>
              </a:ext>
            </a:extLst>
          </p:cNvPr>
          <p:cNvSpPr txBox="1"/>
          <p:nvPr/>
        </p:nvSpPr>
        <p:spPr>
          <a:xfrm>
            <a:off x="422788" y="933405"/>
            <a:ext cx="72693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7. Advanced SQL Analysis – Market Share &amp; Structured Aggregations</a:t>
            </a: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77ECCC-6EBC-36A3-1356-AA5398C32E53}"/>
              </a:ext>
            </a:extLst>
          </p:cNvPr>
          <p:cNvSpPr txBox="1"/>
          <p:nvPr/>
        </p:nvSpPr>
        <p:spPr>
          <a:xfrm>
            <a:off x="422788" y="1302737"/>
            <a:ext cx="7269370" cy="1702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Computed regional market share using window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Applied proportional revenue contribution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Built structured monthly aggregation using CTE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• Demonstrated advanced SQL modeling and analytical thinking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2D492-13EA-16BB-D16A-35E9E3338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" y="3276982"/>
            <a:ext cx="4644974" cy="17038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B776A9-6E0F-01A7-62CA-00A085F59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303" y="3271957"/>
            <a:ext cx="3490262" cy="1889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DE45EF-35A9-30FD-867C-1C46F9666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265" y="87511"/>
            <a:ext cx="3672644" cy="222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95900B-33F4-B434-D009-CA0984D7BF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740" y="2410733"/>
            <a:ext cx="2595525" cy="3662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215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245D2-0092-4599-A664-853437D8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6830B3-DB05-4EE4-73BC-D1B65CE00C0E}"/>
              </a:ext>
            </a:extLst>
          </p:cNvPr>
          <p:cNvSpPr txBox="1"/>
          <p:nvPr/>
        </p:nvSpPr>
        <p:spPr>
          <a:xfrm>
            <a:off x="317091" y="421760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8A8E4-6875-32F8-6357-6956440061AD}"/>
              </a:ext>
            </a:extLst>
          </p:cNvPr>
          <p:cNvSpPr txBox="1"/>
          <p:nvPr/>
        </p:nvSpPr>
        <p:spPr>
          <a:xfrm>
            <a:off x="422788" y="2704331"/>
            <a:ext cx="7269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76DCC5-F9C7-2B90-6B79-226E5AAA2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201" y="2640511"/>
            <a:ext cx="8033596" cy="40006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7A3D4F18-DB66-BBE4-D761-F5EC9407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35" y="822671"/>
            <a:ext cx="11043729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Loaded and explored the FMCG sales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using pandas,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matplotlib, and seaborn.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Checked data structure and quality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with .shape, .head(), and .info().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Generated summary statistics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using .describe() to understand distribution, spread, and possible outliers.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Prepared the data for further cleaning and analysis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before building dashboards in Power BI. </a:t>
            </a:r>
          </a:p>
        </p:txBody>
      </p:sp>
    </p:spTree>
    <p:extLst>
      <p:ext uri="{BB962C8B-B14F-4D97-AF65-F5344CB8AC3E}">
        <p14:creationId xmlns:p14="http://schemas.microsoft.com/office/powerpoint/2010/main" val="287371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44CC-DCEF-9367-EF55-AF2A21B2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3297FE-266A-0A65-D2A0-DE8C0EE9EDAB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2E13CBB4-3407-0662-E170-EBB82C2DD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160" y="880603"/>
            <a:ext cx="5850847" cy="2949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 Transformation: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Converted date column to datetime objects for time-series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 Deduplication: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Removed duplicate records to ensure data integrity and accurate aggregation.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Null Value Assessment: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Audited missing values to determine necessary cleaning or imputation strategies.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4FCCE1-79EA-1C90-D43B-766C933A4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536"/>
          <a:stretch>
            <a:fillRect/>
          </a:stretch>
        </p:blipFill>
        <p:spPr>
          <a:xfrm>
            <a:off x="7692158" y="410185"/>
            <a:ext cx="4144876" cy="55432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1053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F73E-4B52-AC4F-AD8C-FD6A80DA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E6662-9989-C17E-2B6E-F468630CAE52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A3800-0EFB-E148-A56F-AEA27E88B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584" y="2384925"/>
            <a:ext cx="8968830" cy="3711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4309348-EE69-1DCD-2D17-F8FAA03A3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76" y="808273"/>
            <a:ext cx="11398045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Temporal Feature Extraction: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Extracted month and year attributes to enable time-based trend analysis and seasonality comparisons.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KPI Creation: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Calculated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profit_margin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as a derived metric to quantify operational efficiency and profitability trends. </a:t>
            </a:r>
          </a:p>
        </p:txBody>
      </p:sp>
    </p:spTree>
    <p:extLst>
      <p:ext uri="{BB962C8B-B14F-4D97-AF65-F5344CB8AC3E}">
        <p14:creationId xmlns:p14="http://schemas.microsoft.com/office/powerpoint/2010/main" val="1717659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8332-A283-ACEF-FBAD-0749AA44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5C518-F509-B8E9-74EB-B910660CB7D5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EE1F277-7383-6314-06CF-033A33FF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975" y="840469"/>
            <a:ext cx="11398045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Time-Series Analysis: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Performed group-based aggregation to visualize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monthly_sales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trends over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Trend Visualization: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Identified growth patterns and seasonal fluctuations, serving as a foundational input for business forecasting and decision-making.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74552-341A-CBE1-3576-900A12BC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855" y="2247107"/>
            <a:ext cx="7678287" cy="4082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489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8956-E4C4-D2EA-3E83-43299E4DA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477B2-BB6C-7ED4-FB62-DADFF73D9811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B003F-B09A-24A0-FB9A-CE2157B4D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35" b="55499"/>
          <a:stretch>
            <a:fillRect/>
          </a:stretch>
        </p:blipFill>
        <p:spPr>
          <a:xfrm>
            <a:off x="5663887" y="2589999"/>
            <a:ext cx="4956929" cy="3767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2C6F78-68B0-FE5B-8B19-61B99F442F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15"/>
          <a:stretch>
            <a:fillRect/>
          </a:stretch>
        </p:blipFill>
        <p:spPr>
          <a:xfrm>
            <a:off x="555833" y="2589999"/>
            <a:ext cx="4689987" cy="37187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1937FCFD-0651-2352-1AEB-005FF797D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90" y="786949"/>
            <a:ext cx="10898777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Performance Analytics: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Calculated Month-over-Month (MoM) growth rates to quantify business momentum and volatility.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Statistical Profiling: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Used histogram and KDE plots to analyze the distribution of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profit_margin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, identifying outliers and assessing profitability consistency. </a:t>
            </a:r>
          </a:p>
        </p:txBody>
      </p:sp>
    </p:spTree>
    <p:extLst>
      <p:ext uri="{BB962C8B-B14F-4D97-AF65-F5344CB8AC3E}">
        <p14:creationId xmlns:p14="http://schemas.microsoft.com/office/powerpoint/2010/main" val="747025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9DD6-76B1-9797-7090-BFC17C4B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92EDF-D6AE-8AA1-0F6C-1EC7A0C2082D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9FA8D-168F-E724-2AA0-3D0959C48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12"/>
          <a:stretch>
            <a:fillRect/>
          </a:stretch>
        </p:blipFill>
        <p:spPr>
          <a:xfrm>
            <a:off x="140376" y="3037331"/>
            <a:ext cx="4792948" cy="36029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A93740-CA3D-921C-EEE0-9BE6DC3CB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69"/>
          <a:stretch>
            <a:fillRect/>
          </a:stretch>
        </p:blipFill>
        <p:spPr>
          <a:xfrm>
            <a:off x="5065312" y="3042699"/>
            <a:ext cx="6986312" cy="36029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C17ABDA-81BE-02CB-6F45-8645305C3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37" y="774616"/>
            <a:ext cx="11446472" cy="2118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Discount vs Profit Analysis: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Used a scatter plot to examine the relationship between discount and Profit, revealing that higher discount levels tend to compress profitability.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Top-Selling Product Identification: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Aggregated revenue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sku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ranked products to identify the top 10 revenue-generating items, supporting product performance analysis and inventory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758580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E76D-F7B1-9367-9BDF-006F3F293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F92CD2-69ED-F3CE-62C0-326DC97A0B6E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F6F04B-9475-B8F6-5933-24CEC6188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520"/>
          <a:stretch>
            <a:fillRect/>
          </a:stretch>
        </p:blipFill>
        <p:spPr>
          <a:xfrm>
            <a:off x="5993911" y="2534857"/>
            <a:ext cx="6165173" cy="3495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28D229-04D4-9998-CCFA-852DACCE3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60"/>
          <a:stretch>
            <a:fillRect/>
          </a:stretch>
        </p:blipFill>
        <p:spPr>
          <a:xfrm>
            <a:off x="51501" y="2534857"/>
            <a:ext cx="5861918" cy="3470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A48CEAB3-E791-4A19-400B-3AEAE8C5A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77" y="774815"/>
            <a:ext cx="11222868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Pareto Principle (80/20 Rule) Application: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Performed a concentration analysis to determine which percentage of products contribute to 80% of total revenue.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Strategic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Identified key product drivers, enabling resource optimization and improved inventory focus. </a:t>
            </a:r>
          </a:p>
        </p:txBody>
      </p:sp>
    </p:spTree>
    <p:extLst>
      <p:ext uri="{BB962C8B-B14F-4D97-AF65-F5344CB8AC3E}">
        <p14:creationId xmlns:p14="http://schemas.microsoft.com/office/powerpoint/2010/main" val="1931500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20B4-2758-9BC4-784A-4624D1C7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ADF8C-7458-A8AB-BFA2-A64EF4973CA8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75505-E5FA-5069-8382-2ABAF245A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92" r="57188"/>
          <a:stretch>
            <a:fillRect/>
          </a:stretch>
        </p:blipFill>
        <p:spPr>
          <a:xfrm>
            <a:off x="7187930" y="1553900"/>
            <a:ext cx="4733994" cy="25417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1224D7-280A-0433-13E2-7AB22200D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930" y="4095673"/>
            <a:ext cx="2629128" cy="1684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430D337-C633-6BDC-07F7-E2ECDDA482F3}"/>
              </a:ext>
            </a:extLst>
          </p:cNvPr>
          <p:cNvSpPr txBox="1"/>
          <p:nvPr/>
        </p:nvSpPr>
        <p:spPr>
          <a:xfrm>
            <a:off x="483243" y="1119867"/>
            <a:ext cx="6105644" cy="3364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Regional Revenue Analysis: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Aggregated revenue by region to compare performance across geographic markets and identify high-earning regions.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Channel Performance Analysis: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Aggregated revenue by channel to evaluate which sales channels contribute most to total revenue and support distribution strategy decisions.</a:t>
            </a:r>
          </a:p>
        </p:txBody>
      </p:sp>
    </p:spTree>
    <p:extLst>
      <p:ext uri="{BB962C8B-B14F-4D97-AF65-F5344CB8AC3E}">
        <p14:creationId xmlns:p14="http://schemas.microsoft.com/office/powerpoint/2010/main" val="1563239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AA79A-D6EC-1AB8-DE51-12263E8A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3CF41-D213-EFFB-ABD5-A63AAB9997BC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AC8BF-A9F4-2686-5F77-C565F950D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543" y="933405"/>
            <a:ext cx="5502117" cy="4816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B6AFE551-9A21-4229-B1E1-1367D4AA2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91" y="991278"/>
            <a:ext cx="5502117" cy="3364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Multivariate Correlation Analysis: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Utilized correlation matrix and heatmaps to investigate relationships between key business metrics (revenue, profit, discount).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Data-Driven Discovery: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Identified the strength of correlation between revenue and profit margins, providing insights for pricing and discount policy optimization. </a:t>
            </a:r>
          </a:p>
        </p:txBody>
      </p:sp>
    </p:spTree>
    <p:extLst>
      <p:ext uri="{BB962C8B-B14F-4D97-AF65-F5344CB8AC3E}">
        <p14:creationId xmlns:p14="http://schemas.microsoft.com/office/powerpoint/2010/main" val="2828791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3010-1FC3-4BE6-3500-14FC008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DB133A-280E-5BA2-F11E-D5B1D6FD1AFC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7B452B-4640-F278-992C-85CCD5BC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2" b="35748"/>
          <a:stretch>
            <a:fillRect/>
          </a:stretch>
        </p:blipFill>
        <p:spPr>
          <a:xfrm>
            <a:off x="6143075" y="2120109"/>
            <a:ext cx="5549628" cy="3918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C1344-57DE-04F6-B30F-704926E43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12" y="2120109"/>
            <a:ext cx="5056553" cy="3918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7337AB9-845A-B3BE-3989-5DEA091A0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08" y="1023650"/>
            <a:ext cx="11998798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Rolling Average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Smoothed monthly revenue trends using a 3-month moving average.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Pivot-Based Segmentation: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Compared monthly sales performance across product categories using a pivot table. </a:t>
            </a:r>
          </a:p>
        </p:txBody>
      </p:sp>
    </p:spTree>
    <p:extLst>
      <p:ext uri="{BB962C8B-B14F-4D97-AF65-F5344CB8AC3E}">
        <p14:creationId xmlns:p14="http://schemas.microsoft.com/office/powerpoint/2010/main" val="956212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EBB4-22E9-28BC-6895-5CB946B6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2F4C75-EB2E-CF3F-FBAE-6E33D600CB86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8727C-BEA9-E770-0C5C-46ED67B6F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91" y="2572031"/>
            <a:ext cx="8215818" cy="3765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7D7D60B-C1B5-B392-94B4-D6C18972E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91" y="804443"/>
            <a:ext cx="11609407" cy="1702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Synthetic Data Generation: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Implemented random sampling to create categorical variables (direction, region), simulating realistic regional and spatial data distributions.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Augmentation: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Enhanced existing datasets with additional dimensions to enable multi-faceted geographical and directional business analysis. </a:t>
            </a:r>
          </a:p>
        </p:txBody>
      </p:sp>
    </p:spTree>
    <p:extLst>
      <p:ext uri="{BB962C8B-B14F-4D97-AF65-F5344CB8AC3E}">
        <p14:creationId xmlns:p14="http://schemas.microsoft.com/office/powerpoint/2010/main" val="272974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C538B-E52B-17FA-6BDE-CD0B0AB34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BBE19D-7B19-2876-065C-773DB86F358E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3. PYTHON Stage: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F31AA-B80B-6FCD-B210-1BD10398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50" y="2699033"/>
            <a:ext cx="7403938" cy="38756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EE7D91-BC9B-6F8E-1AD3-C91CCDED2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690" y="2699033"/>
            <a:ext cx="3673158" cy="5334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05FFAB7B-F832-FE67-04D0-59B61E14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50" y="838898"/>
            <a:ext cx="1181775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Feature Engineering: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Engineered a binary classification feature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high_revenue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) based on the revenue mean threshold, enabling targeted analysis of high-performing segments.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Data Exporting: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Automated the pipeline by exporting the processed, enriched dataset to Excel for final dashboarding and visualization in Power BI. </a:t>
            </a:r>
          </a:p>
        </p:txBody>
      </p:sp>
    </p:spTree>
    <p:extLst>
      <p:ext uri="{BB962C8B-B14F-4D97-AF65-F5344CB8AC3E}">
        <p14:creationId xmlns:p14="http://schemas.microsoft.com/office/powerpoint/2010/main" val="3969609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3A087-AD9A-96E8-CF6E-F4433B76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0136AF-C98E-041F-3235-1DBA7D143A7E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E658BE-0E81-7624-CF84-EAC150064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59299"/>
              </p:ext>
            </p:extLst>
          </p:nvPr>
        </p:nvGraphicFramePr>
        <p:xfrm>
          <a:off x="742708" y="1546863"/>
          <a:ext cx="10961225" cy="4790986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5572073">
                  <a:extLst>
                    <a:ext uri="{9D8B030D-6E8A-4147-A177-3AD203B41FA5}">
                      <a16:colId xmlns:a16="http://schemas.microsoft.com/office/drawing/2014/main" val="3622931023"/>
                    </a:ext>
                  </a:extLst>
                </a:gridCol>
                <a:gridCol w="5389152">
                  <a:extLst>
                    <a:ext uri="{9D8B030D-6E8A-4147-A177-3AD203B41FA5}">
                      <a16:colId xmlns:a16="http://schemas.microsoft.com/office/drawing/2014/main" val="2611901281"/>
                    </a:ext>
                  </a:extLst>
                </a:gridCol>
              </a:tblGrid>
              <a:tr h="28365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KPI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DAX FORMULA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208041"/>
                  </a:ext>
                </a:extLst>
              </a:tr>
              <a:tr h="921881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Total Orders 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Total Orders = DISTINCTCOUNT(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fmcg_sales_dataset_new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Invoice_ID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])</a:t>
                      </a:r>
                    </a:p>
                    <a:p>
                      <a:endParaRPr lang="en-US" sz="14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065859"/>
                  </a:ext>
                </a:extLst>
              </a:tr>
              <a:tr h="709139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Total Profit 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Total Profit = 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SUM(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fmcg_sales_dataset_new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[profit])</a:t>
                      </a:r>
                    </a:p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196023"/>
                  </a:ext>
                </a:extLst>
              </a:tr>
              <a:tr h="496397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Total sales 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Total_sales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 = sum(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fmcg_sales_dataset_new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[revenue])</a:t>
                      </a:r>
                    </a:p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317697"/>
                  </a:ext>
                </a:extLst>
              </a:tr>
              <a:tr h="1560106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MoM Growth % 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MoM Growth % = DIVIDE(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    [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Total_Sales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] - [Previous Month Sales],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    [Previous Month Sales]</a:t>
                      </a:r>
                    </a:p>
                    <a:p>
                      <a:pPr algn="l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</a:p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672876"/>
                  </a:ext>
                </a:extLst>
              </a:tr>
              <a:tr h="709139">
                <a:tc>
                  <a:txBody>
                    <a:bodyPr/>
                    <a:lstStyle/>
                    <a:p>
                      <a:pPr algn="ctr"/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AOV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AOV = 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DIVIDE([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effectLst/>
                        </a:rPr>
                        <a:t>Total_sales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</a:rPr>
                        <a:t>], [Total Orders])</a:t>
                      </a:r>
                    </a:p>
                    <a:p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1788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DC49C8-C6E4-622E-1AFF-A20183EDF820}"/>
              </a:ext>
            </a:extLst>
          </p:cNvPr>
          <p:cNvSpPr txBox="1"/>
          <p:nvPr/>
        </p:nvSpPr>
        <p:spPr>
          <a:xfrm>
            <a:off x="636608" y="1011341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Some calculated KPI(measures) in power bi:</a:t>
            </a:r>
          </a:p>
        </p:txBody>
      </p:sp>
    </p:spTree>
    <p:extLst>
      <p:ext uri="{BB962C8B-B14F-4D97-AF65-F5344CB8AC3E}">
        <p14:creationId xmlns:p14="http://schemas.microsoft.com/office/powerpoint/2010/main" val="1250782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7E8BE-EB65-EF72-8288-30C7D20ED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80222-23F3-03FC-74FC-C997D7B1BF96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565E6-4B49-6AFA-21FF-57BB092D9350}"/>
              </a:ext>
            </a:extLst>
          </p:cNvPr>
          <p:cNvSpPr txBox="1"/>
          <p:nvPr/>
        </p:nvSpPr>
        <p:spPr>
          <a:xfrm>
            <a:off x="-267961" y="1065779"/>
            <a:ext cx="10001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Generate a date table based on the main database and modeling-related data.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23BA6-AABB-D6F0-B6CF-4D3D8A42C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44" y="1567485"/>
            <a:ext cx="7731200" cy="44006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5784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134D-BFF0-EC7F-2060-10BD9FF1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050F3C-1CF2-9177-E701-DB043411BCA9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B98CC-53C6-EF83-A971-4CFE5EB0A3D6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Page 1: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488C5-EAB3-ADA0-DAE8-8D1BD665C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030" y="1380673"/>
            <a:ext cx="9185656" cy="5312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6513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CD233-5DD3-102D-F934-4CFEC501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D14BA1-A086-3F8C-39E6-9F99BF03FEC4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19B72-FC15-85CD-C0B1-2662ADE74648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Page 2: </a:t>
            </a:r>
            <a:r>
              <a:rPr lang="en-US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 analysis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218A8-3DA5-9356-8306-64E26BE5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44" y="1302737"/>
            <a:ext cx="9376792" cy="5422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07169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B2A0-F1BF-4DE5-76C8-C4BE24B9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280D4-1B83-AFAB-501D-9ED6D4970AA7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97E25-2084-293D-B236-D8A1BD876FC2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Page 3: </a:t>
            </a:r>
            <a:r>
              <a:rPr lang="en-US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Regional / Market Analysis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1C738-D9BC-6997-8DDA-A21B62EEC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137" y="1302737"/>
            <a:ext cx="9129725" cy="5279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60457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8BCC-6C9B-4017-DC71-513A4267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70710F-9753-5F58-D99D-179367D30F47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B063A-4022-0124-94D9-F01E782B98D9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Page 3: </a:t>
            </a:r>
            <a:r>
              <a:rPr lang="en-US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Analysis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7D7257-BE24-A1B5-3660-D5269AFCD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771" y="1302737"/>
            <a:ext cx="9325771" cy="5393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79012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DDAE-1403-1886-2273-99CE635E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1DE28-66B1-8E92-4EAD-C5F848D7EC59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4CE8B-FC90-7C24-2A5B-65011A4CE1CD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Page 3: </a:t>
            </a:r>
            <a:r>
              <a:rPr lang="en-US" dirty="0">
                <a:solidFill>
                  <a:schemeClr val="dk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Time Analysis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94302-056C-4D7C-B101-9BC9E89F2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26" y="1305631"/>
            <a:ext cx="9310760" cy="53845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7890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EE91-2DFE-8A43-C45A-192F340E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C29A89-4205-E036-9C02-E087AAD569C1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F2AAB-8026-825B-43DD-3C65A29132A5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Key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7956A-A4D3-5E4C-0138-76F18A538E70}"/>
              </a:ext>
            </a:extLst>
          </p:cNvPr>
          <p:cNvSpPr txBox="1"/>
          <p:nvPr/>
        </p:nvSpPr>
        <p:spPr>
          <a:xfrm>
            <a:off x="530864" y="1302737"/>
            <a:ext cx="11130271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1. Product Portfolio Optimization (Pareto Efficiency)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A dominant share of total profit is concentrated in the “Dairy” and “Personal Care” categories, reflecting an 80/20 distribution.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Prioritize inventory management and allocate marketing resources to these high-performing segments to sustain and scale profit margins.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2. Channel &amp; Regional Performance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Significant variability exists in profit margins across sales channels (e.g., “Supermarket” dominance) and regional performance (e.g., strong sales in “Shiraz” and “Ahvaz”).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Reallocate advertising budgets toward high-margin channels and scale regional best practices to underperforming markets to balance national revenue.</a:t>
            </a:r>
          </a:p>
        </p:txBody>
      </p:sp>
    </p:spTree>
    <p:extLst>
      <p:ext uri="{BB962C8B-B14F-4D97-AF65-F5344CB8AC3E}">
        <p14:creationId xmlns:p14="http://schemas.microsoft.com/office/powerpoint/2010/main" val="151584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25FA3-966A-AFC0-5016-4909D4B1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D8B137-8341-5880-ACC5-91EFBF93399D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4AB6D-B11F-EBA5-5AEC-1363DE96B121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Key Insights: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7F579-6539-968F-ECCF-67048A375292}"/>
              </a:ext>
            </a:extLst>
          </p:cNvPr>
          <p:cNvSpPr txBox="1"/>
          <p:nvPr/>
        </p:nvSpPr>
        <p:spPr>
          <a:xfrm>
            <a:off x="530864" y="1302737"/>
            <a:ext cx="11130271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3. Growth Momentum &amp; Market Dynamics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While total sales volume is robust, MoM and YoY growth trends indicate a stabilization period, signaling a potential saturation of current market strategies.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Deploy targeted loyalty programs and promotional campaigns to revitalize customer engagement and stimulate demand in stagnant periods.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4. Operational Efficiency &amp; AOV Enhancement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Insight: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“Wholesale” shows the highest Average Order Value (AOV), whereas online and pharmacy channels face operational challenges affecting net profitability.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Recommendation: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Implement cross-selling and up-selling strategies within online channels to improve AOV, while optimizing logistics to mitigate operational costs.</a:t>
            </a:r>
          </a:p>
        </p:txBody>
      </p:sp>
    </p:spTree>
    <p:extLst>
      <p:ext uri="{BB962C8B-B14F-4D97-AF65-F5344CB8AC3E}">
        <p14:creationId xmlns:p14="http://schemas.microsoft.com/office/powerpoint/2010/main" val="2675955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E5F1-2925-43B0-3D13-052EF111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205067-0F7D-BEEB-4B17-41DEAED4DE1F}"/>
              </a:ext>
            </a:extLst>
          </p:cNvPr>
          <p:cNvSpPr txBox="1"/>
          <p:nvPr/>
        </p:nvSpPr>
        <p:spPr>
          <a:xfrm>
            <a:off x="317091" y="410185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4. POWER BI Stage: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320C3-5265-82CC-7FC4-65441C0F0F05}"/>
              </a:ext>
            </a:extLst>
          </p:cNvPr>
          <p:cNvSpPr txBox="1"/>
          <p:nvPr/>
        </p:nvSpPr>
        <p:spPr>
          <a:xfrm>
            <a:off x="648182" y="933405"/>
            <a:ext cx="509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Key Insights: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B682F0-BDDB-4FC3-8B01-8FAF56DA8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740303"/>
              </p:ext>
            </p:extLst>
          </p:nvPr>
        </p:nvGraphicFramePr>
        <p:xfrm>
          <a:off x="829518" y="1456625"/>
          <a:ext cx="10532964" cy="35331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510988">
                  <a:extLst>
                    <a:ext uri="{9D8B030D-6E8A-4147-A177-3AD203B41FA5}">
                      <a16:colId xmlns:a16="http://schemas.microsoft.com/office/drawing/2014/main" val="423330147"/>
                    </a:ext>
                  </a:extLst>
                </a:gridCol>
                <a:gridCol w="3510988">
                  <a:extLst>
                    <a:ext uri="{9D8B030D-6E8A-4147-A177-3AD203B41FA5}">
                      <a16:colId xmlns:a16="http://schemas.microsoft.com/office/drawing/2014/main" val="4257733479"/>
                    </a:ext>
                  </a:extLst>
                </a:gridCol>
                <a:gridCol w="3510988">
                  <a:extLst>
                    <a:ext uri="{9D8B030D-6E8A-4147-A177-3AD203B41FA5}">
                      <a16:colId xmlns:a16="http://schemas.microsoft.com/office/drawing/2014/main" val="1806647566"/>
                    </a:ext>
                  </a:extLst>
                </a:gridCol>
              </a:tblGrid>
              <a:tr h="441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Analysis Pillar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Strategic 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596275"/>
                  </a:ext>
                </a:extLst>
              </a:tr>
              <a:tr h="772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 Strategy</a:t>
                      </a:r>
                      <a:endParaRPr lang="en-US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80/20 Profitability Concentration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Focus resources on top-tier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290819"/>
                  </a:ext>
                </a:extLst>
              </a:tr>
              <a:tr h="772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Channel Strategy</a:t>
                      </a:r>
                      <a:endParaRPr lang="en-US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Margin volatility across channels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Pivot investment to high-margin segments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497338"/>
                  </a:ext>
                </a:extLst>
              </a:tr>
              <a:tr h="772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Growth Trends</a:t>
                      </a:r>
                      <a:endParaRPr lang="en-US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Plateauing MoM/YoY growth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Launch demand-generation campaigns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700029"/>
                  </a:ext>
                </a:extLst>
              </a:tr>
              <a:tr h="7728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Regional Performance</a:t>
                      </a:r>
                      <a:endParaRPr lang="en-US"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Diverse regional potential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Scale regional success models nationally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823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2090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1369-33E7-13AF-BE2F-CA9491821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CE120-4557-3876-E099-008CD2F4D4AD}"/>
              </a:ext>
            </a:extLst>
          </p:cNvPr>
          <p:cNvSpPr txBox="1"/>
          <p:nvPr/>
        </p:nvSpPr>
        <p:spPr>
          <a:xfrm>
            <a:off x="3045542" y="2905780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/>
              <a:t>Data-driven insights for better decisions.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B0FAF6-6427-5BE5-F278-15D07F24B2E4}"/>
              </a:ext>
            </a:extLst>
          </p:cNvPr>
          <p:cNvSpPr txBox="1"/>
          <p:nvPr/>
        </p:nvSpPr>
        <p:spPr>
          <a:xfrm>
            <a:off x="3075008" y="2151729"/>
            <a:ext cx="30209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Thank You</a:t>
            </a:r>
            <a:endParaRPr lang="en-US" sz="4400" dirty="0"/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7036535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1205</TotalTime>
  <Words>1916</Words>
  <Application>Microsoft Office PowerPoint</Application>
  <PresentationFormat>Widescreen</PresentationFormat>
  <Paragraphs>252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Gill Sans MT</vt:lpstr>
      <vt:lpstr>Segoe UI</vt:lpstr>
      <vt:lpstr>Gallery</vt:lpstr>
      <vt:lpstr>End-to-End FMCG Retail Sales Analytics Project Powered by Excel | SQL | Python | Power BI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 TEST</dc:creator>
  <cp:lastModifiedBy>ASUS TEST</cp:lastModifiedBy>
  <cp:revision>85</cp:revision>
  <dcterms:created xsi:type="dcterms:W3CDTF">2026-05-19T16:48:59Z</dcterms:created>
  <dcterms:modified xsi:type="dcterms:W3CDTF">2026-05-23T11:27:04Z</dcterms:modified>
</cp:coreProperties>
</file>